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10504" y="914400"/>
            <a:ext cx="1371600" cy="137160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8495" cy="9144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TH SarabunIT9"/>
              </a:defRPr>
            </a:pPr>
            <a:r>
              <a:t>ระบบจัดทำเอกสารหลังจับกุม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5E6B8"/>
                </a:solidFill>
                <a:latin typeface="TH SarabunIT9"/>
              </a:defRPr>
            </a:pPr>
            <a:r>
              <a:t>Post-Arrest Documentation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704" y="4114800"/>
            <a:ext cx="2743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48495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BBDD"/>
                </a:solidFill>
                <a:latin typeface="TH SarabunIT9"/>
              </a:defRPr>
            </a:pPr>
            <a:r>
              <a:t>จัดทำโดย ร.ต.อ.มาตรา จิตรธนภัทร์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48495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899BB"/>
                </a:solidFill>
                <a:latin typeface="TH SarabunIT9"/>
              </a:defRPr>
            </a:pPr>
            <a:r>
              <a:t>Version 1.0 — เมษายน 2568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TH SarabunIT9"/>
              </a:defRPr>
            </a:pPr>
            <a:r>
              <a:t>ปัญหาและที่มา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0292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594360" cy="59436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เสียเวลา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572000" cy="-457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การพิมพ์เอกสาร 3 ฉบับซ้ำข้อมูลเดิม ใช้เวลา 2-3 ชั่วโมงต่อคดี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50292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337560"/>
            <a:ext cx="594360" cy="59436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5720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ผิดพลาดบ่อย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4572000" cy="-457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ข้อมูลไม่ตรงกันระหว่างเอกสาร พิมพ์ตกหล่น ต้องแก้ไขหลายรอบ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00600"/>
            <a:ext cx="50292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5074920"/>
            <a:ext cx="594360" cy="59436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06440"/>
            <a:ext cx="45720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จัดเก็บยาก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217920"/>
            <a:ext cx="4572000" cy="-457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เอกสารกระจัดกระจาย ค้นหาย้อนหลังลำบาก ไม่มีระบบจัดเก็บกลาง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25880"/>
            <a:ext cx="502920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66666"/>
                </a:solidFill>
                <a:latin typeface="TH SarabunIT9"/>
              </a:defRPr>
            </a:pPr>
            <a:r>
              <a:t>ก่อนใช้ระบบ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5029200" cy="10972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0" b="1">
                <a:solidFill>
                  <a:srgbClr val="E74C3C"/>
                </a:solidFill>
                <a:latin typeface="TH SarabunIT9"/>
              </a:defRPr>
            </a:pPr>
            <a:r>
              <a:t>2-3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74C3C"/>
                </a:solidFill>
                <a:latin typeface="TH SarabunIT9"/>
              </a:defRPr>
            </a:pPr>
            <a:r>
              <a:t>ชั่วโมง / คดี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7AE60"/>
                </a:solidFill>
                <a:latin typeface="TH SarabunIT9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66666"/>
                </a:solidFill>
                <a:latin typeface="TH SarabunIT9"/>
              </a:defRPr>
            </a:pPr>
            <a:r>
              <a:t>หลังใช้ระบบ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27AE60"/>
                </a:solidFill>
                <a:latin typeface="TH SarabunIT9"/>
              </a:defRPr>
            </a:pPr>
            <a:r>
              <a:t>15-30 นาที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TH SarabunIT9"/>
              </a:defRPr>
            </a:pPr>
            <a:r>
              <a:t>แนวทางแก้ไข — ระบบจัดทำเอกสารหลังจับกุม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2004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กรอกข้อมูล 1 ครั้ง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83464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👤 ข้อมูลผู้บันทึก/ผู้บังคับบัญชา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83464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🔍 รายละเอียดการจับกุม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83464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👥 ข้อมูลผู้ต้องหา (หลายคนได้)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83464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📦 ของกลาง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83464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📷 รูปถ่ายผู้ต้องหา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283464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✍️ ลายเซ็นดิจิทัล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914400" cy="7315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D4A01F"/>
                </a:solidFill>
                <a:latin typeface="TH SarabunIT9"/>
              </a:defRPr>
            </a:pPr>
            <a:r>
              <a:t>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463040"/>
            <a:ext cx="3017520" cy="4846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TH SarabunIT9"/>
              </a:defRPr>
            </a:pPr>
            <a:r>
              <a:t>ระบบประมวลผล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265176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⚙️ สร้างเอกสาร 3 ฉบับอัตโนมัติ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80360"/>
            <a:ext cx="265176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💾 บันทึกลง Google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265176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👥 รองรับหลายผู้ใช้งาน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69080"/>
            <a:ext cx="265176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TH SarabunIT9"/>
              </a:defRPr>
            </a:pPr>
            <a:r>
              <a:t>🔐 ระบบ Login/สิทธิ์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83280"/>
            <a:ext cx="914400" cy="73152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D4A01F"/>
                </a:solidFill>
                <a:latin typeface="TH SarabunIT9"/>
              </a:defRPr>
            </a:pPr>
            <a:r>
              <a:t>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463040"/>
            <a:ext cx="3017520" cy="4846320"/>
          </a:xfrm>
          <a:prstGeom prst="rect">
            <a:avLst/>
          </a:prstGeom>
          <a:solidFill>
            <a:srgbClr val="E8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645920"/>
            <a:ext cx="30175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TH SarabunIT9"/>
              </a:defRPr>
            </a:pPr>
            <a:r>
              <a:t>ผลลัพธ์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286000"/>
            <a:ext cx="265176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B4C"/>
                </a:solidFill>
                <a:latin typeface="TH SarabunIT9"/>
              </a:defRPr>
            </a:pPr>
            <a:r>
              <a:t>📄 บันทึกจับกุม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606040"/>
            <a:ext cx="265176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ตามรูปแบบมาตรฐาน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383280"/>
            <a:ext cx="265176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B4C"/>
                </a:solidFill>
                <a:latin typeface="TH SarabunIT9"/>
              </a:defRPr>
            </a:pPr>
            <a:r>
              <a:t>📄 แบบ ม.22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703320"/>
            <a:ext cx="265176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บันทึกการแจ้งสิทธิ์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480560"/>
            <a:ext cx="265176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B4C"/>
                </a:solidFill>
                <a:latin typeface="TH SarabunIT9"/>
              </a:defRPr>
            </a:pPr>
            <a:r>
              <a:t>📄 แบบ ม.23/ปท.1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800600"/>
            <a:ext cx="265176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รายงานการจับกุม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486400"/>
            <a:ext cx="30175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TH SarabunIT9"/>
              </a:defRPr>
            </a:pPr>
            <a:r>
              <a:t>📥 Export: Word (.doc) และ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TH SarabunIT9"/>
              </a:defRPr>
            </a:pPr>
            <a:r>
              <a:t>ความสามารถหลักของระบบ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0175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สร้างเอกสาร 3 ฉบับ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017520" cy="6858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บันทึกจับกุม, แบบ ม.22, แบบ ม.23/ปท.1 จากข้อมูลชุดเดียว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645920"/>
            <a:ext cx="594360" cy="59436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0175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รองรับหลายผู้ต้องหา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88920"/>
            <a:ext cx="3017520" cy="6858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เพิ่มผู้ต้องหาได้ไม่จำกัด แต่ละคนมีข้อมูลและรูปถ่ายแยก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1645920"/>
            <a:ext cx="594360" cy="5943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0175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แนบรูปถ่าย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788920"/>
            <a:ext cx="3017520" cy="6858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ถ่ายรูปผู้ต้องหา 4 มุม แสดงแบบตาราง 2×2 ตามราชการ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✍️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37760"/>
            <a:ext cx="30175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ลายเซ็นดิจิทัล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3017520" cy="6858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เซ็นชื่อบนหน้าจอ แนบท้ายเอกสารได้ทันที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7720" y="420624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937760"/>
            <a:ext cx="30175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บันทึก Google 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349240"/>
            <a:ext cx="3017520" cy="6858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ข้อมูลเก็บบน Cloud เข้าถึงได้ทุกที่ทุกเวลา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319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58200" y="4206240"/>
            <a:ext cx="594360" cy="5943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937760"/>
            <a:ext cx="30175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Export Word /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349240"/>
            <a:ext cx="3017520" cy="6858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ดาวน์โหลดเป็น .doc หรือ พิมพ์เป็น PDF ได้ทันที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TH SarabunIT9"/>
              </a:defRPr>
            </a:pPr>
            <a:r>
              <a:t>สถาปัตยกรรมระบบ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4572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1B4C"/>
                </a:solidFill>
                <a:latin typeface="TH SarabunIT9"/>
              </a:defRPr>
            </a:pPr>
            <a:r>
              <a:t>🖥️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HTML / CSS /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9260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Single-file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9260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ไม่ต้องติดตั้งโปรแกรม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9260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ใช้งานผ่าน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9260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รองรับ Mobile &amp;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9260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ฟอนต์ TH SarabunIT๙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91440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A01F"/>
                </a:solidFill>
                <a:latin typeface="TH SarabunIT9"/>
              </a:defRPr>
            </a:pPr>
            <a:r>
              <a:t>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3017520" cy="457200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645920"/>
            <a:ext cx="30175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TH SarabunIT9"/>
              </a:defRPr>
            </a:pPr>
            <a:r>
              <a:t>⚙️ 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860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Google Apps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REST API (GET/POST)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004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ระบบ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6576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แยกสิทธิ์ Admin/User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1148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CRUD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91440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A01F"/>
                </a:solidFill>
                <a:latin typeface="TH SarabunIT9"/>
              </a:defRPr>
            </a:pPr>
            <a:r>
              <a:t>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463040"/>
            <a:ext cx="3017520" cy="4572000"/>
          </a:xfrm>
          <a:prstGeom prst="rect">
            <a:avLst/>
          </a:prstGeom>
          <a:solidFill>
            <a:srgbClr val="E8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645920"/>
            <a:ext cx="30175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TH SarabunIT9"/>
              </a:defRPr>
            </a:pPr>
            <a:r>
              <a:t>🗄️ 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2860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Google 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7432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ชีต Users (ผู้ใช้งาน)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2004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ชีต Cases (ข้อมูลคดี)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6576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Cloud-based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114800"/>
            <a:ext cx="256032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TH SarabunIT9"/>
              </a:defRPr>
            </a:pPr>
            <a:r>
              <a:t>•  Backup อัตโนมัติ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11277295" cy="82296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577840"/>
            <a:ext cx="11277295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TH SarabunIT9"/>
              </a:defRPr>
            </a:pPr>
            <a:r>
              <a:t>🌐  Hosting: GitHub Pages (ฟรี)  |  ไม่มีค่าใช้จ่าย  |  ไม่ต้องเช่า Server  |  เข้าใช้งานผ่าน URL ได้ทุกที่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TH SarabunIT9"/>
              </a:defRPr>
            </a:pPr>
            <a:r>
              <a:t>ความปลอดภัยและการเข้าถึง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2120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7548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ระบบ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754880" cy="-914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ผู้ใช้ต้อง Login ด้วย Username/Password ก่อนใช้งาน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1600200"/>
            <a:ext cx="594360" cy="59436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แยกสิทธิ์ผู้ใช้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4754880" cy="-914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Admin: เห็นทุกคดี จัดการผู้ใช้ / User: เห็นเฉพาะคดีของตัวเอง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2120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29184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47548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ข้อมูลบน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4754880" cy="-914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เก็บบน Google Sheets มี Backup อัตโนมัติจาก Google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52120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3291840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23360"/>
            <a:ext cx="475488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D1B4C"/>
                </a:solidFill>
                <a:latin typeface="TH SarabunIT9"/>
              </a:defRPr>
            </a:pPr>
            <a:r>
              <a:t>เข้าถึงทุกที่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34840"/>
            <a:ext cx="4754880" cy="-914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ใช้งานผ่าน Browser รองรับทั้ง PC, Tablet, มือถือ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ช่องทางการเข้าใช้งาน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521208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4663440" cy="3200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D1B4C"/>
                </a:solidFill>
                <a:latin typeface="TH SarabunIT9"/>
              </a:defRPr>
            </a:pPr>
            <a:r>
              <a:t>🌐  ช่องทางที่ 1: เปิดผ่าน URL (แนะนำ)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466344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เข้าใช้งานผ่าน GitHub Pages URL ได้ทุกที่ ไม่ต้องติดตั้ง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394960"/>
            <a:ext cx="5212080" cy="10972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486400"/>
            <a:ext cx="4663440" cy="3200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TH SarabunIT9"/>
              </a:defRPr>
            </a:pPr>
            <a:r>
              <a:t>💻  ช่องทางที่ 2: เปิดระบบ.bat (ในเครื่อง)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806440"/>
            <a:ext cx="4663440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TH SarabunIT9"/>
              </a:defRPr>
            </a:pPr>
            <a:r>
              <a:t>ดับเบิลคลิกไฟล์ เปิดระบบ.bat ใช้งานส่วนตัวในเครื่อง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TH SarabunIT9"/>
              </a:defRPr>
            </a:pPr>
            <a:r>
              <a:t>ประโยชน์ที่ได้รับ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ลดเวลา 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จาก 2-3 ชม. เหลือ 15-30 นาที/คดี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685800" cy="68580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0604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ลดข้อผิดพลาด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1752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กรอกข้อมูล 1 ครั้ง ใช้ได้ 3 เอกสาร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31920"/>
            <a:ext cx="685800" cy="68580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84048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ไม่มีค่าใช้จ่าย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5196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ใช้บริการฟรีทั้งหมด (Google + GitHub)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66360"/>
            <a:ext cx="685800" cy="6858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ใช้งานง่าย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86400"/>
            <a:ext cx="365760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ไม่ต้องติดตั้งโปรแกรม ใช้ผ่าน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25880"/>
            <a:ext cx="502920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4C"/>
                </a:solidFill>
                <a:latin typeface="TH SarabunIT9"/>
              </a:defRPr>
            </a:pPr>
            <a:r>
              <a:t>เปรียบเทียบก่อน-หลัง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011680"/>
            <a:ext cx="1280160" cy="41148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128016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TH SarabunIT9"/>
              </a:defRPr>
            </a:pPr>
            <a:r>
              <a:t>หัวข้อ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011680"/>
            <a:ext cx="146304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01168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TH SarabunIT9"/>
              </a:defRPr>
            </a:pPr>
            <a:r>
              <a:t>ก่อนใช้ระบบ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011680"/>
            <a:ext cx="14630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01168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TH SarabunIT9"/>
              </a:defRPr>
            </a:pPr>
            <a:r>
              <a:t>หลังใช้ระบบ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60604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651760"/>
            <a:ext cx="128016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TH SarabunIT9"/>
              </a:defRPr>
            </a:pPr>
            <a:r>
              <a:t>เวลา/คดี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65176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74C3C"/>
                </a:solidFill>
                <a:latin typeface="TH SarabunIT9"/>
              </a:defRPr>
            </a:pPr>
            <a:r>
              <a:t>2-3 ชั่วโมง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65176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7AE60"/>
                </a:solidFill>
                <a:latin typeface="TH SarabunIT9"/>
              </a:defRPr>
            </a:pPr>
            <a:r>
              <a:t>15-30 นาที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128016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TH SarabunIT9"/>
              </a:defRPr>
            </a:pPr>
            <a:r>
              <a:t>ความผิดพลาด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20040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74C3C"/>
                </a:solidFill>
                <a:latin typeface="TH SarabunIT9"/>
              </a:defRPr>
            </a:pPr>
            <a:r>
              <a:t>บ่อยครั้ง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20040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7AE60"/>
                </a:solidFill>
                <a:latin typeface="TH SarabunIT9"/>
              </a:defRPr>
            </a:pPr>
            <a:r>
              <a:t>น้อยมาก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70332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749040"/>
            <a:ext cx="128016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TH SarabunIT9"/>
              </a:defRPr>
            </a:pPr>
            <a:r>
              <a:t>จัดเก็บ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74904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74C3C"/>
                </a:solidFill>
                <a:latin typeface="TH SarabunIT9"/>
              </a:defRPr>
            </a:pPr>
            <a:r>
              <a:t>กระดาษ/USB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4904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7AE60"/>
                </a:solidFill>
                <a:latin typeface="TH SarabunIT9"/>
              </a:defRPr>
            </a:pPr>
            <a:r>
              <a:t>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97679"/>
            <a:ext cx="128016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TH SarabunIT9"/>
              </a:defRPr>
            </a:pPr>
            <a:r>
              <a:t>ค่าใช้จ่าย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297679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74C3C"/>
                </a:solidFill>
                <a:latin typeface="TH SarabunIT9"/>
              </a:defRPr>
            </a:pPr>
            <a:r>
              <a:t>ค่าพิมพ์/กระดาษ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297679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7AE60"/>
                </a:solidFill>
                <a:latin typeface="TH SarabunIT9"/>
              </a:defRPr>
            </a:pPr>
            <a:r>
              <a:t>ฟรี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80060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846320"/>
            <a:ext cx="128016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TH SarabunIT9"/>
              </a:defRPr>
            </a:pPr>
            <a:r>
              <a:t>การเข้าถึง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84632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74C3C"/>
                </a:solidFill>
                <a:latin typeface="TH SarabunIT9"/>
              </a:defRPr>
            </a:pPr>
            <a:r>
              <a:t>เฉพาะในเครื่อง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846320"/>
            <a:ext cx="1463040" cy="4114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7AE60"/>
                </a:solidFill>
                <a:latin typeface="TH SarabunIT9"/>
              </a:defRPr>
            </a:pPr>
            <a:r>
              <a:t>ทุกที่ทุกเวลา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TH SarabunIT9"/>
              </a:defRPr>
            </a:pPr>
            <a:r>
              <a:t>แผนพัฒนาในอนาคต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1463040" cy="36576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146304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H SarabunIT9"/>
              </a:defRPr>
            </a:pPr>
            <a:r>
              <a:t>ระยะที่ 2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8463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B4C"/>
                </a:solidFill>
                <a:latin typeface="TH SarabunIT9"/>
              </a:defRPr>
            </a:pPr>
            <a:r>
              <a:t>เชื่อมต่อฐานข้อมูลตำรวจ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84632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เชื่อมต่อระบบ CRIMES, ทะเบียนราษฎร์ ดึงข้อมูลผู้ต้องหาอัตโนมัติ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0" y="1554480"/>
            <a:ext cx="1463040" cy="36576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554480"/>
            <a:ext cx="146304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H SarabunIT9"/>
              </a:defRPr>
            </a:pPr>
            <a:r>
              <a:t>ระยะที่ 2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8463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B4C"/>
                </a:solidFill>
                <a:latin typeface="TH SarabunIT9"/>
              </a:defRPr>
            </a:pPr>
            <a:r>
              <a:t>Dashboard สถิติ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484632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แสดงสถิติการจับกุม แยกตามประเภทคดี พื้นที่ และช่วงเวลา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4114800"/>
            <a:ext cx="1463040" cy="36576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114800"/>
            <a:ext cx="146304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H SarabunIT9"/>
              </a:defRPr>
            </a:pPr>
            <a:r>
              <a:t>ระยะที่ 3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206240"/>
            <a:ext cx="640080" cy="64008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8463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B4C"/>
                </a:solidFill>
                <a:latin typeface="TH SarabunIT9"/>
              </a:defRPr>
            </a:pPr>
            <a:r>
              <a:t>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484632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พัฒนาเป็น App สำหรับมือถือ ใช้งานสะดวกขณะปฏิบัติหน้าที่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4114800"/>
            <a:ext cx="1463040" cy="36576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114800"/>
            <a:ext cx="1463040" cy="36576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H SarabunIT9"/>
              </a:defRPr>
            </a:pPr>
            <a:r>
              <a:t>ระยะที่ 3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4846320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B4C"/>
                </a:solidFill>
                <a:latin typeface="TH SarabunIT9"/>
              </a:defRPr>
            </a:pPr>
            <a:r>
              <a:t>AI ช่วยกรอก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86400"/>
            <a:ext cx="4846320" cy="64008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TH SarabunIT9"/>
              </a:defRPr>
            </a:pPr>
            <a:r>
              <a:t>ใช้ AI ช่วยแนะนำข้อหา ตรวจสอบความถูกต้องของเอกสาร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10504" y="1097280"/>
            <a:ext cx="1371600" cy="1371600"/>
          </a:xfrm>
          <a:prstGeom prst="ellipse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TH SarabunIT9"/>
              </a:defRPr>
            </a:pPr>
            <a:r>
              <a:t>ขอบคุณครับ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704" y="3657600"/>
            <a:ext cx="2743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48495" cy="54864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5E6B8"/>
                </a:solidFill>
                <a:latin typeface="TH SarabunIT9"/>
              </a:defRPr>
            </a:pPr>
            <a:r>
              <a:t>ระบบจัดทำเอกสารหลังจับกุม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48495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BBDD"/>
                </a:solidFill>
                <a:latin typeface="TH SarabunIT9"/>
              </a:defRPr>
            </a:pPr>
            <a:r>
              <a:t>จัดทำโดย ร.ต.อ.มาตรา จิตรธนภัทร์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48495" cy="457200"/>
          </a:xfrm>
          <a:prstGeom prst="rect">
            <a:avLst/>
          </a:prstGeom>
          <a:noFill/>
        </p:spPr>
        <p:txBody>
          <a:bodyPr wrap="square" tIns="25400" bIns="25400" lIns="50800" rIns="508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A01F"/>
                </a:solidFill>
                <a:latin typeface="TH SarabunIT9"/>
              </a:defRPr>
            </a:pPr>
            <a:r>
              <a:t>พร้อมสาธิตระบบ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